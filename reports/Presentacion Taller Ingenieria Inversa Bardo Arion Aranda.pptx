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" cy="210312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6217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1D4FD"/>
                </a:solidFill>
                <a:latin typeface="Aptos"/>
              </a:rPr>
              <a:t>Tercer parcial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6492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F4F7FB"/>
                </a:solidFill>
                <a:latin typeface="Aptos"/>
              </a:rPr>
              <a:t>Ingeniería inversa para
Reingeniería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5943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B9C5D6"/>
                </a:solidFill>
                <a:latin typeface="Aptos"/>
              </a:rPr>
              <a:t>Análisis del sistema AuthenticationSystem, hallazgos de seguridad y propuesta de mejora.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Aptos"/>
              </a:rPr>
              <a:t>Bardo Arion Aranda
Ingeniería de Software
15 de mayo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F9F43"/>
                </a:solidFill>
                <a:latin typeface="Aptos"/>
              </a:rPr>
              <a:t>Docente: Javier Iván Manzanares Cuadros</a:t>
            </a:r>
          </a:p>
        </p:txBody>
      </p:sp>
      <p:pic>
        <p:nvPicPr>
          <p:cNvPr id="9" name="Picture 8" descr="GHIDR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914400"/>
            <a:ext cx="3017520" cy="20459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Panorama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Objetivo y alcance del taller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Reconstruir la lógica del sistema a partir del bytecode Java.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Identificar clases, patrón de diseño y riesgos de seguridad.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Plantear una mejora de reingeniería orientada a proteger credenciales.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5032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 err="1">
                <a:solidFill>
                  <a:srgbClr val="FF9F43"/>
                </a:solidFill>
                <a:latin typeface="Aptos"/>
              </a:rPr>
              <a:t>Alcance</a:t>
            </a:r>
            <a:endParaRPr sz="1600" b="1" dirty="0">
              <a:solidFill>
                <a:srgbClr val="FF9F4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00507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rPr dirty="0" err="1"/>
              <a:t>Compilación</a:t>
            </a:r>
            <a:r>
              <a:rPr dirty="0"/>
              <a:t>, bytecode, </a:t>
            </a:r>
            <a:r>
              <a:rPr dirty="0" err="1"/>
              <a:t>importación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Ghidra</a:t>
            </a:r>
            <a:r>
              <a:rPr dirty="0"/>
              <a:t> y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métodos</a:t>
            </a:r>
            <a:r>
              <a:rPr dirty="0"/>
              <a:t> clave.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rPr dirty="0" err="1"/>
              <a:t>Validación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original y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segura</a:t>
            </a:r>
            <a:r>
              <a:rPr dirty="0"/>
              <a:t>.</a:t>
            </a:r>
          </a:p>
        </p:txBody>
      </p:sp>
      <p:pic>
        <p:nvPicPr>
          <p:cNvPr id="9" name="Picture 8" descr="Mobile Tablet Flow-2026-05-15-22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585216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77840" y="1828800"/>
            <a:ext cx="5852160" cy="205740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Proceso seguido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468880" cy="960120"/>
          </a:xfrm>
          <a:prstGeom prst="rect">
            <a:avLst/>
          </a:prstGeom>
          <a:solidFill>
            <a:srgbClr val="17233B"/>
          </a:solidFill>
          <a:ln w="1524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1D4FD"/>
                </a:solidFill>
                <a:latin typeface="Aptos"/>
              </a:rPr>
              <a:t>1. Compilación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414" y="1801368"/>
            <a:ext cx="21396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4F7FB"/>
                </a:solidFill>
                <a:latin typeface="Aptos"/>
              </a:rPr>
              <a:t>Se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compiló</a:t>
            </a:r>
            <a:r>
              <a:rPr sz="1400" dirty="0">
                <a:solidFill>
                  <a:srgbClr val="F4F7FB"/>
                </a:solidFill>
                <a:latin typeface="Aptos"/>
              </a:rPr>
              <a:t> y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ejecutó</a:t>
            </a:r>
            <a:r>
              <a:rPr sz="1400" dirty="0">
                <a:solidFill>
                  <a:srgbClr val="F4F7FB"/>
                </a:solidFill>
                <a:latin typeface="Aptos"/>
              </a:rPr>
              <a:t> el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sistema</a:t>
            </a:r>
            <a:r>
              <a:rPr sz="1400" dirty="0">
                <a:solidFill>
                  <a:srgbClr val="F4F7FB"/>
                </a:solidFill>
                <a:latin typeface="Aptos"/>
              </a:rPr>
              <a:t> 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42032"/>
            <a:ext cx="2468880" cy="960120"/>
          </a:xfrm>
          <a:prstGeom prst="rect">
            <a:avLst/>
          </a:prstGeom>
          <a:solidFill>
            <a:srgbClr val="17233B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9F43"/>
                </a:solidFill>
                <a:latin typeface="Aptos"/>
              </a:rPr>
              <a:t>2. Bytecode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39796"/>
            <a:ext cx="21396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4F7FB"/>
                </a:solidFill>
                <a:latin typeface="Aptos"/>
              </a:rPr>
              <a:t>Se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generó</a:t>
            </a:r>
            <a:r>
              <a:rPr sz="1400" dirty="0">
                <a:solidFill>
                  <a:srgbClr val="F4F7FB"/>
                </a:solidFill>
                <a:latin typeface="Aptos"/>
              </a:rPr>
              <a:t> el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análisis</a:t>
            </a:r>
            <a:r>
              <a:rPr sz="1400" dirty="0">
                <a:solidFill>
                  <a:srgbClr val="F4F7FB"/>
                </a:solidFill>
                <a:latin typeface="Aptos"/>
              </a:rPr>
              <a:t> con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javap</a:t>
            </a:r>
            <a:r>
              <a:rPr sz="1400" dirty="0">
                <a:solidFill>
                  <a:srgbClr val="F4F7FB"/>
                </a:solidFill>
                <a:latin typeface="Aptos"/>
              </a:rPr>
              <a:t> -c -v.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66744"/>
            <a:ext cx="2468880" cy="960120"/>
          </a:xfrm>
          <a:prstGeom prst="rect">
            <a:avLst/>
          </a:prstGeom>
          <a:solidFill>
            <a:srgbClr val="17233B"/>
          </a:solidFill>
          <a:ln w="1524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776472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1D4FD"/>
                </a:solidFill>
                <a:latin typeface="Aptos"/>
              </a:rPr>
              <a:t>3. Ghidra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23944"/>
            <a:ext cx="21396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4F7FB"/>
                </a:solidFill>
                <a:latin typeface="Aptos"/>
              </a:rPr>
              <a:t>Se importaron las 7 clases y se habilitó el Decompiler.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91456"/>
            <a:ext cx="2468880" cy="960120"/>
          </a:xfrm>
          <a:prstGeom prst="rect">
            <a:avLst/>
          </a:prstGeom>
          <a:solidFill>
            <a:srgbClr val="17233B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90118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F43"/>
                </a:solidFill>
                <a:latin typeface="Aptos"/>
              </a:rPr>
              <a:t>4. Hallazgos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248656"/>
            <a:ext cx="21396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4F7FB"/>
                </a:solidFill>
                <a:latin typeface="Aptos"/>
              </a:rPr>
              <a:t>Se identificó Strategy y los riesgos principales.</a:t>
            </a:r>
          </a:p>
        </p:txBody>
      </p:sp>
      <p:pic>
        <p:nvPicPr>
          <p:cNvPr id="17" name="Picture 16" descr="fi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00200"/>
            <a:ext cx="3794760" cy="45262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611880" y="1600200"/>
            <a:ext cx="3794760" cy="452628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ig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00200"/>
            <a:ext cx="3794760" cy="45262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589520" y="1600200"/>
            <a:ext cx="3794760" cy="452628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Sistema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Arquitectura actual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Clases identificadas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AuthenticationSystem coordina el flujo principal.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User almacena usuario, contraseña e intentos.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Context delega la validación según la estrategia.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ReportGenerator genera el reporte final.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4389120" cy="1097280"/>
          </a:xfrm>
          <a:prstGeom prst="rect">
            <a:avLst/>
          </a:prstGeom>
          <a:solidFill>
            <a:srgbClr val="17233B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544568"/>
            <a:ext cx="4059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F43"/>
                </a:solidFill>
                <a:latin typeface="Aptos"/>
              </a:rPr>
              <a:t>Hallazgo estructural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68596"/>
            <a:ext cx="4059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4F7FB"/>
                </a:solidFill>
                <a:latin typeface="Aptos"/>
              </a:rPr>
              <a:t>La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separación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por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estrategias</a:t>
            </a:r>
            <a:r>
              <a:rPr sz="1400" dirty="0">
                <a:solidFill>
                  <a:srgbClr val="F4F7FB"/>
                </a:solidFill>
                <a:latin typeface="Aptos"/>
              </a:rPr>
              <a:t> es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útil</a:t>
            </a:r>
            <a:r>
              <a:rPr sz="1400" dirty="0">
                <a:solidFill>
                  <a:srgbClr val="F4F7FB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pero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todavía</a:t>
            </a:r>
            <a:r>
              <a:rPr sz="1400" dirty="0">
                <a:solidFill>
                  <a:srgbClr val="F4F7FB"/>
                </a:solidFill>
                <a:latin typeface="Aptos"/>
              </a:rPr>
              <a:t> hay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mezcla</a:t>
            </a:r>
            <a:r>
              <a:rPr sz="1400" dirty="0">
                <a:solidFill>
                  <a:srgbClr val="F4F7FB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responsabilidades</a:t>
            </a:r>
            <a:r>
              <a:rPr sz="1400" dirty="0">
                <a:solidFill>
                  <a:srgbClr val="F4F7FB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seguridad</a:t>
            </a:r>
            <a:r>
              <a:rPr sz="1400" dirty="0">
                <a:solidFill>
                  <a:srgbClr val="F4F7FB"/>
                </a:solidFill>
                <a:latin typeface="Aptos"/>
              </a:rPr>
              <a:t> y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presentación</a:t>
            </a:r>
            <a:r>
              <a:rPr sz="1400" dirty="0">
                <a:solidFill>
                  <a:srgbClr val="F4F7FB"/>
                </a:solidFill>
                <a:latin typeface="Aptos"/>
              </a:rPr>
              <a:t>.</a:t>
            </a:r>
          </a:p>
        </p:txBody>
      </p:sp>
      <p:pic>
        <p:nvPicPr>
          <p:cNvPr id="10" name="Picture 9" descr="Mobile Tablet Flow-2026-05-15-222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34440"/>
            <a:ext cx="5897880" cy="4892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40680" y="1234440"/>
            <a:ext cx="5897880" cy="489204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Ingeniería inversa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Análisis técnico en Ghidra</a:t>
            </a:r>
          </a:p>
        </p:txBody>
      </p:sp>
      <p:pic>
        <p:nvPicPr>
          <p:cNvPr id="5" name="Picture 4" descr="fig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3796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6537960" cy="457200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Lo que permitió reconstruir Ghidra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11680"/>
            <a:ext cx="3657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El método main crea el usuario admin y configura Context.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Luego ejecuta dos validaciones y muestra resultados.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Al final genera un reporte con información sensible.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4389120"/>
            <a:ext cx="3657600" cy="1325880"/>
          </a:xfrm>
          <a:prstGeom prst="rect">
            <a:avLst/>
          </a:prstGeom>
          <a:solidFill>
            <a:srgbClr val="17233B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9832" y="449884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F43"/>
                </a:solidFill>
                <a:latin typeface="Aptos"/>
              </a:rPr>
              <a:t>Valor del análisis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4745736"/>
            <a:ext cx="33284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4F7FB"/>
                </a:solidFill>
                <a:latin typeface="Aptos"/>
              </a:rPr>
              <a:t>La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decompilación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recuperó</a:t>
            </a:r>
            <a:r>
              <a:rPr sz="1400" dirty="0">
                <a:solidFill>
                  <a:srgbClr val="F4F7FB"/>
                </a:solidFill>
                <a:latin typeface="Aptos"/>
              </a:rPr>
              <a:t> la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lógica</a:t>
            </a:r>
            <a:r>
              <a:rPr sz="1400" dirty="0">
                <a:solidFill>
                  <a:srgbClr val="F4F7FB"/>
                </a:solidFill>
                <a:latin typeface="Aptos"/>
              </a:rPr>
              <a:t> principal y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permitió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localizar</a:t>
            </a:r>
            <a:r>
              <a:rPr sz="1400" dirty="0">
                <a:solidFill>
                  <a:srgbClr val="F4F7FB"/>
                </a:solidFill>
                <a:latin typeface="Aptos"/>
              </a:rPr>
              <a:t> puntos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débiles</a:t>
            </a:r>
            <a:r>
              <a:rPr sz="1400" dirty="0">
                <a:solidFill>
                  <a:srgbClr val="F4F7FB"/>
                </a:solidFill>
                <a:latin typeface="Aptos"/>
              </a:rPr>
              <a:t> sin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depender</a:t>
            </a:r>
            <a:r>
              <a:rPr sz="1400" dirty="0">
                <a:solidFill>
                  <a:srgbClr val="F4F7FB"/>
                </a:solidFill>
                <a:latin typeface="Aptos"/>
              </a:rPr>
              <a:t> solo del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código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fuente</a:t>
            </a:r>
            <a:r>
              <a:rPr sz="1400" dirty="0">
                <a:solidFill>
                  <a:srgbClr val="F4F7FB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Patrón de diseño identificado</a:t>
            </a:r>
          </a:p>
        </p:txBody>
      </p:sp>
      <p:pic>
        <p:nvPicPr>
          <p:cNvPr id="5" name="Picture 4" descr="Mobile Tablet Flow-2026-05-15-222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80644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5806440" cy="438912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3720" y="164592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Evidencia del patrón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01168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ValidationStrategy define la interfaz de validación.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SimpleValidation y StrongValidation implementan reglas concretas.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Context delega la decisión a la estrategia activa.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526280"/>
            <a:ext cx="3657600" cy="1143000"/>
          </a:xfrm>
          <a:prstGeom prst="rect">
            <a:avLst/>
          </a:prstGeom>
          <a:solidFill>
            <a:srgbClr val="17233B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4032" y="463600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EE7B7"/>
                </a:solidFill>
                <a:latin typeface="Aptos"/>
              </a:rPr>
              <a:t>Conclusión de 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4914029"/>
            <a:ext cx="33284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4F7FB"/>
                </a:solidFill>
                <a:latin typeface="Aptos"/>
              </a:rPr>
              <a:t>El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patrón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está</a:t>
            </a:r>
            <a:r>
              <a:rPr sz="1400" dirty="0">
                <a:solidFill>
                  <a:srgbClr val="F4F7FB"/>
                </a:solidFill>
                <a:latin typeface="Aptos"/>
              </a:rPr>
              <a:t> bien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planteado</a:t>
            </a:r>
            <a:r>
              <a:rPr sz="1400" dirty="0">
                <a:solidFill>
                  <a:srgbClr val="F4F7FB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pero</a:t>
            </a:r>
            <a:r>
              <a:rPr sz="1400" dirty="0">
                <a:solidFill>
                  <a:srgbClr val="F4F7FB"/>
                </a:solidFill>
                <a:latin typeface="Aptos"/>
              </a:rPr>
              <a:t> sus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estrategias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originales</a:t>
            </a:r>
            <a:r>
              <a:rPr sz="1400" dirty="0">
                <a:solidFill>
                  <a:srgbClr val="F4F7FB"/>
                </a:solidFill>
                <a:latin typeface="Aptos"/>
              </a:rPr>
              <a:t> no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garantizan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una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seguridad</a:t>
            </a:r>
            <a:r>
              <a:rPr sz="1400" dirty="0">
                <a:solidFill>
                  <a:srgbClr val="F4F7F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4F7FB"/>
                </a:solidFill>
                <a:latin typeface="Aptos"/>
              </a:rPr>
              <a:t>adecuada</a:t>
            </a:r>
            <a:r>
              <a:rPr sz="1400" dirty="0">
                <a:solidFill>
                  <a:srgbClr val="F4F7FB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Vulnerabilidades, code smells y 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743200" cy="1234440"/>
          </a:xfrm>
          <a:prstGeom prst="rect">
            <a:avLst/>
          </a:prstGeom>
          <a:solidFill>
            <a:srgbClr val="17233B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18488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Aptos"/>
              </a:rPr>
              <a:t>Contraseña en texto plano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4140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4F7FB"/>
                </a:solidFill>
                <a:latin typeface="Aptos"/>
              </a:rPr>
              <a:t>User conserva la contraseña original y permite recuperarla.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508760"/>
            <a:ext cx="2743200" cy="1234440"/>
          </a:xfrm>
          <a:prstGeom prst="rect">
            <a:avLst/>
          </a:prstGeom>
          <a:solidFill>
            <a:srgbClr val="17233B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2192" y="1618488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F43"/>
                </a:solidFill>
                <a:latin typeface="Aptos"/>
              </a:rPr>
              <a:t>Cifrado débil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2" y="1965960"/>
            <a:ext cx="24140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4F7FB"/>
                </a:solidFill>
                <a:latin typeface="Aptos"/>
              </a:rPr>
              <a:t>getEncryptedPassword solo desplaza cada carácter en +2.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2743200" cy="1234440"/>
          </a:xfrm>
          <a:prstGeom prst="rect">
            <a:avLst/>
          </a:prstGeom>
          <a:solidFill>
            <a:srgbClr val="17233B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127248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Aptos"/>
              </a:rPr>
              <a:t>Exposición en consola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74720"/>
            <a:ext cx="24140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4F7FB"/>
                </a:solidFill>
                <a:latin typeface="Aptos"/>
              </a:rPr>
              <a:t>ReportGenerator imprime datos sensibles del usuario.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017520"/>
            <a:ext cx="2743200" cy="1234440"/>
          </a:xfrm>
          <a:prstGeom prst="rect">
            <a:avLst/>
          </a:prstGeom>
          <a:solidFill>
            <a:srgbClr val="17233B"/>
          </a:solidFill>
          <a:ln w="1524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22192" y="3127248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1D4FD"/>
                </a:solidFill>
                <a:latin typeface="Aptos"/>
              </a:rPr>
              <a:t>Responsabilidad mezclada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3474720"/>
            <a:ext cx="24140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4F7FB"/>
                </a:solidFill>
                <a:latin typeface="Aptos"/>
              </a:rPr>
              <a:t>Context valida, cuenta intentos y además muestra mensajes.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600200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Métricas rápidas del sistema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011680"/>
            <a:ext cx="160020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58584" y="2121408"/>
            <a:ext cx="1307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D4FD"/>
                </a:solidFill>
                <a:latin typeface="Aptos Display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560320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9C5D6"/>
                </a:solidFill>
                <a:latin typeface="Aptos"/>
              </a:rPr>
              <a:t>clases analizadas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011680"/>
            <a:ext cx="160020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95944" y="2121408"/>
            <a:ext cx="1307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9F43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560320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9C5D6"/>
                </a:solidFill>
                <a:latin typeface="Aptos"/>
              </a:rPr>
              <a:t>estrategias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429000"/>
            <a:ext cx="160020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58584" y="3538728"/>
            <a:ext cx="1307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6B6B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3977640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9C5D6"/>
                </a:solidFill>
                <a:latin typeface="Aptos"/>
              </a:rPr>
              <a:t>riesgos clave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3429000"/>
            <a:ext cx="160020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95944" y="3538728"/>
            <a:ext cx="1307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EE7B7"/>
                </a:solidFill>
                <a:latin typeface="Aptos Display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3977640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9C5D6"/>
                </a:solidFill>
                <a:latin typeface="Aptos"/>
              </a:rPr>
              <a:t>mejora aplicada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4800600"/>
            <a:ext cx="3566160" cy="1133856"/>
          </a:xfrm>
          <a:prstGeom prst="rect">
            <a:avLst/>
          </a:prstGeom>
          <a:solidFill>
            <a:srgbClr val="17233B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76872" y="4910328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9F43"/>
                </a:solidFill>
                <a:latin typeface="Aptos"/>
              </a:rPr>
              <a:t>Lectura 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8584" y="508406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4F7FB"/>
                </a:solidFill>
                <a:latin typeface="Aptos"/>
              </a:rPr>
              <a:t>El </a:t>
            </a:r>
            <a:r>
              <a:rPr sz="1300" dirty="0" err="1">
                <a:solidFill>
                  <a:srgbClr val="F4F7FB"/>
                </a:solidFill>
                <a:latin typeface="Aptos"/>
              </a:rPr>
              <a:t>sistema</a:t>
            </a:r>
            <a:r>
              <a:rPr sz="1300" dirty="0">
                <a:solidFill>
                  <a:srgbClr val="F4F7FB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F4F7FB"/>
                </a:solidFill>
                <a:latin typeface="Aptos"/>
              </a:rPr>
              <a:t>funciona</a:t>
            </a:r>
            <a:r>
              <a:rPr sz="1300" dirty="0">
                <a:solidFill>
                  <a:srgbClr val="F4F7FB"/>
                </a:solidFill>
                <a:latin typeface="Aptos"/>
              </a:rPr>
              <a:t>, </a:t>
            </a:r>
            <a:r>
              <a:rPr sz="1300" dirty="0" err="1">
                <a:solidFill>
                  <a:srgbClr val="F4F7FB"/>
                </a:solidFill>
                <a:latin typeface="Aptos"/>
              </a:rPr>
              <a:t>pero</a:t>
            </a:r>
            <a:r>
              <a:rPr sz="1300" dirty="0">
                <a:solidFill>
                  <a:srgbClr val="F4F7FB"/>
                </a:solidFill>
                <a:latin typeface="Aptos"/>
              </a:rPr>
              <a:t> protege mal las </a:t>
            </a:r>
            <a:r>
              <a:rPr sz="1300" dirty="0" err="1">
                <a:solidFill>
                  <a:srgbClr val="F4F7FB"/>
                </a:solidFill>
                <a:latin typeface="Aptos"/>
              </a:rPr>
              <a:t>credenciales</a:t>
            </a:r>
            <a:r>
              <a:rPr sz="1300" dirty="0">
                <a:solidFill>
                  <a:srgbClr val="F4F7FB"/>
                </a:solidFill>
                <a:latin typeface="Aptos"/>
              </a:rPr>
              <a:t> y </a:t>
            </a:r>
            <a:r>
              <a:rPr sz="1300" dirty="0" err="1">
                <a:solidFill>
                  <a:srgbClr val="F4F7FB"/>
                </a:solidFill>
                <a:latin typeface="Aptos"/>
              </a:rPr>
              <a:t>separa</a:t>
            </a:r>
            <a:r>
              <a:rPr sz="1300" dirty="0">
                <a:solidFill>
                  <a:srgbClr val="F4F7FB"/>
                </a:solidFill>
                <a:latin typeface="Aptos"/>
              </a:rPr>
              <a:t> poco sus </a:t>
            </a:r>
            <a:r>
              <a:rPr sz="1300" dirty="0" err="1">
                <a:solidFill>
                  <a:srgbClr val="F4F7FB"/>
                </a:solidFill>
                <a:latin typeface="Aptos"/>
              </a:rPr>
              <a:t>responsabilidades</a:t>
            </a:r>
            <a:r>
              <a:rPr sz="1300" dirty="0">
                <a:solidFill>
                  <a:srgbClr val="F4F7FB"/>
                </a:solidFill>
                <a:latin typeface="Aptos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Mejora planteada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Propuesta de reingeniería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Cambios propuestos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Reemplazar el pseudo cifrado por hashing SHA-256 con salt.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Crear SecureUser para almacenar un hash y no la contraseña real.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Usar SecureValidation para verificar credenciales de forma segura.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4480560" cy="1252728"/>
          </a:xfrm>
          <a:prstGeom prst="rect">
            <a:avLst/>
          </a:prstGeom>
          <a:solidFill>
            <a:srgbClr val="17233B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544568"/>
            <a:ext cx="4151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EE7B7"/>
                </a:solidFill>
                <a:latin typeface="Aptos"/>
              </a:rPr>
              <a:t>Objetivo de la mejora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892040"/>
            <a:ext cx="4151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4F7FB"/>
                </a:solidFill>
                <a:latin typeface="Aptos"/>
              </a:rPr>
              <a:t>Reducir la exposición de credenciales y reforzar la autenticación sin romper el flujo general del sistema.</a:t>
            </a:r>
          </a:p>
        </p:txBody>
      </p:sp>
      <p:pic>
        <p:nvPicPr>
          <p:cNvPr id="10" name="Picture 9" descr="Mobile Tablet Flow-2026-05-15-222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34440"/>
            <a:ext cx="5897880" cy="4892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40680" y="1234440"/>
            <a:ext cx="5897880" cy="489204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2148840" cy="384048"/>
          </a:xfrm>
          <a:prstGeom prst="roundRect">
            <a:avLst/>
          </a:prstGeom>
          <a:solidFill>
            <a:srgbClr val="121A2F"/>
          </a:solidFill>
          <a:ln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1D4FD"/>
                </a:solidFill>
                <a:latin typeface="Aptos"/>
              </a:defRPr>
            </a:pPr>
            <a:r>
              <a:t>Resultado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Implementación y validación</a:t>
            </a:r>
          </a:p>
        </p:txBody>
      </p:sp>
      <p:pic>
        <p:nvPicPr>
          <p:cNvPr id="5" name="Picture 4" descr="fig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6035040" cy="4526280"/>
          </a:xfrm>
          <a:prstGeom prst="rect">
            <a:avLst/>
          </a:prstGeom>
          <a:noFill/>
          <a:ln w="1397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160020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D4FD"/>
                </a:solidFill>
                <a:latin typeface="Aptos"/>
              </a:rPr>
              <a:t>Evidencia de la mejora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9659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Se agregaron SecureUser, SecureValidation y SecureAuthenticationDemo.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La validación correcta regresó true y la incorrecta false.</a:t>
            </a:r>
          </a:p>
          <a:p>
            <a:pPr>
              <a:spcAft>
                <a:spcPts val="5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El reporte final dejó de mostrar la contraseña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617720"/>
            <a:ext cx="1737360" cy="960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24344" y="4727448"/>
            <a:ext cx="144475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EE7B7"/>
                </a:solidFill>
                <a:latin typeface="Aptos Display"/>
              </a:rPr>
              <a:t>SHA-256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516636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9C5D6"/>
                </a:solidFill>
                <a:latin typeface="Aptos"/>
              </a:rPr>
              <a:t>hash usado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4617720"/>
            <a:ext cx="1737360" cy="960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44584" y="4727448"/>
            <a:ext cx="144475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9F43"/>
                </a:solidFill>
                <a:latin typeface="Aptos Display"/>
              </a:rPr>
              <a:t>salt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4584" y="516636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9C5D6"/>
                </a:solidFill>
                <a:latin typeface="Aptos"/>
              </a:rPr>
              <a:t>protección extra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9081" y="553212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4F7FB"/>
                </a:solidFill>
                <a:latin typeface="Aptos Display"/>
              </a:rPr>
              <a:t>Conclusiones</a:t>
            </a:r>
            <a:endParaRPr sz="2400" b="1" dirty="0">
              <a:solidFill>
                <a:srgbClr val="F4F7FB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 dirty="0">
                <a:solidFill>
                  <a:srgbClr val="F4F7FB"/>
                </a:solidFill>
                <a:latin typeface="Aptos"/>
              </a:rPr>
              <a:t>La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ingeniería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inversa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permitió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comprender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el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sistema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,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localizar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debilidades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reales y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proponer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una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mejora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F4F7FB"/>
                </a:solidFill>
                <a:latin typeface="Aptos"/>
              </a:rPr>
              <a:t>funcional</a:t>
            </a:r>
            <a:r>
              <a:rPr sz="2300" b="1" dirty="0">
                <a:solidFill>
                  <a:srgbClr val="F4F7FB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1" y="2597912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rPr dirty="0" err="1"/>
              <a:t>Ghidra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reconstruir</a:t>
            </a:r>
            <a:r>
              <a:rPr dirty="0"/>
              <a:t> </a:t>
            </a:r>
            <a:r>
              <a:rPr dirty="0" err="1"/>
              <a:t>clases</a:t>
            </a:r>
            <a:r>
              <a:rPr dirty="0"/>
              <a:t>, </a:t>
            </a:r>
            <a:r>
              <a:rPr dirty="0" err="1"/>
              <a:t>métodos</a:t>
            </a:r>
            <a:r>
              <a:rPr dirty="0"/>
              <a:t> y </a:t>
            </a:r>
            <a:r>
              <a:rPr dirty="0" err="1"/>
              <a:t>relaciones</a:t>
            </a:r>
            <a:r>
              <a:rPr dirty="0"/>
              <a:t> clave.</a:t>
            </a:r>
          </a:p>
          <a:p>
            <a:pPr>
              <a:spcAft>
                <a:spcPts val="5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patrón</a:t>
            </a:r>
            <a:r>
              <a:rPr dirty="0"/>
              <a:t> Strategy </a:t>
            </a:r>
            <a:r>
              <a:rPr dirty="0" err="1"/>
              <a:t>estaba</a:t>
            </a:r>
            <a:r>
              <a:rPr dirty="0"/>
              <a:t> </a:t>
            </a:r>
            <a:r>
              <a:rPr dirty="0" err="1"/>
              <a:t>presente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sus </a:t>
            </a:r>
            <a:r>
              <a:rPr dirty="0" err="1"/>
              <a:t>estrategias</a:t>
            </a:r>
            <a:r>
              <a:rPr dirty="0"/>
              <a:t> </a:t>
            </a:r>
            <a:r>
              <a:rPr dirty="0" err="1"/>
              <a:t>eran</a:t>
            </a:r>
            <a:r>
              <a:rPr dirty="0"/>
              <a:t> </a:t>
            </a:r>
            <a:r>
              <a:rPr dirty="0" err="1"/>
              <a:t>débiles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seguridad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reingeniería</a:t>
            </a:r>
            <a:r>
              <a:rPr dirty="0"/>
              <a:t> </a:t>
            </a:r>
            <a:r>
              <a:rPr dirty="0" err="1"/>
              <a:t>aplicada</a:t>
            </a:r>
            <a:r>
              <a:rPr dirty="0"/>
              <a:t> </a:t>
            </a:r>
            <a:r>
              <a:rPr dirty="0" err="1"/>
              <a:t>demostró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posible</a:t>
            </a:r>
            <a:r>
              <a:rPr dirty="0"/>
              <a:t> </a:t>
            </a:r>
            <a:r>
              <a:rPr dirty="0" err="1"/>
              <a:t>reforzar</a:t>
            </a:r>
            <a:r>
              <a:rPr dirty="0"/>
              <a:t> la </a:t>
            </a:r>
            <a:r>
              <a:rPr dirty="0" err="1"/>
              <a:t>autenticación</a:t>
            </a:r>
            <a:r>
              <a:rPr dirty="0"/>
              <a:t> con </a:t>
            </a:r>
            <a:r>
              <a:rPr dirty="0" err="1"/>
              <a:t>cambios</a:t>
            </a:r>
            <a:r>
              <a:rPr dirty="0"/>
              <a:t> </a:t>
            </a:r>
            <a:r>
              <a:rPr dirty="0" err="1"/>
              <a:t>controlados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09160"/>
            <a:ext cx="6309360" cy="1472184"/>
          </a:xfrm>
          <a:prstGeom prst="rect">
            <a:avLst/>
          </a:prstGeom>
          <a:solidFill>
            <a:srgbClr val="17233B"/>
          </a:solidFill>
          <a:ln w="15240">
            <a:solidFill>
              <a:srgbClr val="21D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4818888"/>
            <a:ext cx="5980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1D4FD"/>
                </a:solidFill>
                <a:latin typeface="Aptos"/>
              </a:rPr>
              <a:t>Mensaje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166360"/>
            <a:ext cx="59801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4F7FB"/>
                </a:solidFill>
                <a:latin typeface="Aptos"/>
              </a:rPr>
              <a:t>El taller permitió justificar técnicamente una propuesta de mejora y validarla con evidencia.</a:t>
            </a:r>
          </a:p>
        </p:txBody>
      </p:sp>
      <p:pic>
        <p:nvPicPr>
          <p:cNvPr id="10" name="Picture 9" descr="GHIDR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37360"/>
            <a:ext cx="2606040" cy="1766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5560" y="5939536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dirty="0">
                <a:solidFill>
                  <a:srgbClr val="FF9F43"/>
                </a:solidFill>
                <a:latin typeface="Aptos"/>
              </a:rPr>
              <a:t>Gracias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00800"/>
            <a:ext cx="11018520" cy="1828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28232"/>
            <a:ext cx="4206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9C5D6"/>
                </a:solidFill>
                <a:latin typeface="Aptos"/>
              </a:rPr>
              <a:t>Bardo Arion Aranda | Ingeniería inversa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1D4F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654</Words>
  <Application>Microsoft Office PowerPoint</Application>
  <PresentationFormat>Panorámica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arioncronos cronos</cp:lastModifiedBy>
  <cp:revision>2</cp:revision>
  <dcterms:created xsi:type="dcterms:W3CDTF">2013-01-27T09:14:16Z</dcterms:created>
  <dcterms:modified xsi:type="dcterms:W3CDTF">2026-05-15T23:47:19Z</dcterms:modified>
  <cp:category/>
</cp:coreProperties>
</file>